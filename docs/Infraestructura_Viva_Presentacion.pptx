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1556" y="822960"/>
            <a:ext cx="1005840" cy="100584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3074" y="1084478"/>
            <a:ext cx="482803" cy="482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1488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DE ARQUITECTURA CLOUD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0" y="256032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Infraestructura Viva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0" y="35204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Migración de un entorno on-premise a AWS Cloud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997196" y="4343400"/>
            <a:ext cx="2194560" cy="0"/>
          </a:xfrm>
          <a:prstGeom prst="line">
            <a:avLst/>
          </a:prstGeom>
          <a:noFill/>
          <a:ln w="12700">
            <a:solidFill>
              <a:srgbClr val="3E5D8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0" y="457200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Soluciones Digitales ACME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0" y="603504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 · Fundamentos de Tecnología Cloud  —  Bootcamp Cloud Architecture, Alkemy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0" y="635508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8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MartLiz  ·  Junio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 de ACME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Soluciones Digitales ACME opera hoy sobre un entorno on-premise que limita el crecimiento de ventas, soporte y finanzas.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EAF1F8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9280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11680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874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Costos elevados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49808" y="2468880"/>
            <a:ext cx="3026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 costo de mantenimiento del hardware propio, sin escalar con la demanda.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06240" y="169164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EAF1F8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07408" y="189280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011680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83480" y="1874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Cómputo rígido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407408" y="2468880"/>
            <a:ext cx="3026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capacidad de escalar procesamiento según la carga real de cada área.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863840" y="169164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EAF1F8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65008" y="189280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2011680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41080" y="1874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aislados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065008" y="2468880"/>
            <a:ext cx="3026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Bases relacionales y NoSQL sin integrar, dependientes de hardware físico.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65760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EAF1F8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" y="385876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977640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3840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Almacenamiento único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49808" y="4434840"/>
            <a:ext cx="3026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diferenciar datos de uso frecuente y datos de archivo histórico.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06240" y="365760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EAF1F8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07408" y="385876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3977640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983480" y="3840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expuesta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407408" y="4434840"/>
            <a:ext cx="3026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segmentación clara entre servicios internos y aplicaciones públicas.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7863840" y="365760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EAF1F8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065008" y="385876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3880" y="3977640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641080" y="3840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Monitoreo reactivo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065008" y="4434840"/>
            <a:ext cx="3026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Incidentes detectados después de impactar a los usuarios, no antes.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Infraestructura Viva  ·  Módulo 4  ·  Alkemy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de la propuesta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Migrar el entorno on-premise de ACME a AWS usando únicamente herramientas gratuitas — AWS Free Tier, AWS Academy, SQLiteOnline y Visual Studio Code — resolviendo seis problemáticas centrales.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27407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519172"/>
            <a:ext cx="585216" cy="585216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396" y="2671328"/>
            <a:ext cx="280904" cy="280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10312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Cómputo escalable y seguro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206240" y="210312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27407A"/>
          </a:solidFill>
          <a:ln/>
        </p:spPr>
      </p:sp>
      <p:sp>
        <p:nvSpPr>
          <p:cNvPr id="9" name="Shape 6"/>
          <p:cNvSpPr/>
          <p:nvPr/>
        </p:nvSpPr>
        <p:spPr>
          <a:xfrm>
            <a:off x="4434840" y="2519172"/>
            <a:ext cx="585216" cy="585216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6996" y="2671328"/>
            <a:ext cx="280904" cy="2809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66360" y="210312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 relacional + NoSQL integradas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7863840" y="210312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27407A"/>
          </a:solidFill>
          <a:ln/>
        </p:spPr>
      </p:sp>
      <p:sp>
        <p:nvSpPr>
          <p:cNvPr id="13" name="Shape 9"/>
          <p:cNvSpPr/>
          <p:nvPr/>
        </p:nvSpPr>
        <p:spPr>
          <a:xfrm>
            <a:off x="8092440" y="2519172"/>
            <a:ext cx="585216" cy="585216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4596" y="2671328"/>
            <a:ext cx="280904" cy="28090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823960" y="210312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Almacenamiento por frecuencia de uso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27407A"/>
          </a:solidFill>
          <a:ln/>
        </p:spPr>
      </p:sp>
      <p:sp>
        <p:nvSpPr>
          <p:cNvPr id="17" name="Shape 12"/>
          <p:cNvSpPr/>
          <p:nvPr/>
        </p:nvSpPr>
        <p:spPr>
          <a:xfrm>
            <a:off x="777240" y="4210812"/>
            <a:ext cx="585216" cy="585216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396" y="4362968"/>
            <a:ext cx="280904" cy="28090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08760" y="37947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virtual segmentada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4206240" y="379476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27407A"/>
          </a:solidFill>
          <a:ln/>
        </p:spPr>
      </p:sp>
      <p:sp>
        <p:nvSpPr>
          <p:cNvPr id="21" name="Shape 15"/>
          <p:cNvSpPr/>
          <p:nvPr/>
        </p:nvSpPr>
        <p:spPr>
          <a:xfrm>
            <a:off x="4434840" y="4210812"/>
            <a:ext cx="585216" cy="585216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6996" y="4362968"/>
            <a:ext cx="280904" cy="28090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166360" y="37947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Monitoreo y notificaciones proactivas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7863840" y="379476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27407A"/>
          </a:solidFill>
          <a:ln/>
        </p:spPr>
      </p:sp>
      <p:sp>
        <p:nvSpPr>
          <p:cNvPr id="25" name="Shape 18"/>
          <p:cNvSpPr/>
          <p:nvPr/>
        </p:nvSpPr>
        <p:spPr>
          <a:xfrm>
            <a:off x="8092440" y="4210812"/>
            <a:ext cx="585216" cy="585216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4596" y="4362968"/>
            <a:ext cx="280904" cy="28090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823960" y="37947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Solución viable con AWS Free Tier</a:t>
            </a:r>
            <a:endParaRPr lang="en-US" sz="1350" dirty="0"/>
          </a:p>
        </p:txBody>
      </p:sp>
      <p:sp>
        <p:nvSpPr>
          <p:cNvPr id="28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Infraestructura Viva  ·  Módulo 4  ·  Alkemy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propuesta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VPC con subredes públicas y privadas, capa de cómputo, capa de datos y una capa transversal de monitoreo y mensajería.</a:t>
            </a:r>
            <a:endParaRPr lang="en-US" sz="1300" dirty="0"/>
          </a:p>
        </p:txBody>
      </p:sp>
      <p:pic>
        <p:nvPicPr>
          <p:cNvPr id="4" name="Image 0" descr="/home/claude/proyecto/diagra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8341" y="1371600"/>
            <a:ext cx="6732270" cy="5212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Infraestructura Viva  ·  Módulo 4  ·  Alkemy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Cómputo y bases de datos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166360" cy="4846320"/>
          </a:xfrm>
          <a:prstGeom prst="roundRect">
            <a:avLst>
              <a:gd name="adj" fmla="val 1509"/>
            </a:avLst>
          </a:prstGeom>
          <a:solidFill>
            <a:srgbClr val="EAF1F8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5544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19" y="1685239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7276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Cómputo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2240280"/>
            <a:ext cx="4526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EC2 + Auto Scaling — instancias t2/t3.micro (Free Tier), 1–4 según demanda de ventas y soporte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Lambda — procesos por lotes de finanzas, sin costo por inactividad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ECS (Fargate) — microservicio de integración en contenedores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080760" y="1280160"/>
            <a:ext cx="5166360" cy="4846320"/>
          </a:xfrm>
          <a:prstGeom prst="roundRect">
            <a:avLst>
              <a:gd name="adj" fmla="val 1509"/>
            </a:avLst>
          </a:prstGeom>
          <a:solidFill>
            <a:srgbClr val="EAF1F8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355080" y="15544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5839" y="1685239"/>
            <a:ext cx="241402" cy="2414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95160" y="157276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Bases de datos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400800" y="2240280"/>
            <a:ext cx="4526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RDS (PostgreSQL) — Multi-AZ, backups automáticos, datos transaccionales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DynamoDB — datos semiestructurados de soporte, hasta 3 índices secundarios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Prototipado de consultas SQL en SQLiteOnline antes de RDS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Infraestructura Viva  ·  Módulo 4  ·  Alkemy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Almacenamiento y red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166360" cy="4846320"/>
          </a:xfrm>
          <a:prstGeom prst="roundRect">
            <a:avLst>
              <a:gd name="adj" fmla="val 1509"/>
            </a:avLst>
          </a:prstGeom>
          <a:solidFill>
            <a:srgbClr val="EAF1F8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5544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19" y="1685239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7276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Almacenamiento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2240280"/>
            <a:ext cx="4526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Estándar — sitio web, archivos multimedia, acceso frecuente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Política de ciclo de vida — mueve a Glacier tras 90 días sin acceso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Backups — snapshots de RDS y exportaciones DynamoDB, versionado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080760" y="1280160"/>
            <a:ext cx="5166360" cy="4846320"/>
          </a:xfrm>
          <a:prstGeom prst="roundRect">
            <a:avLst>
              <a:gd name="adj" fmla="val 1509"/>
            </a:avLst>
          </a:prstGeom>
          <a:solidFill>
            <a:srgbClr val="EAF1F8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355080" y="15544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5839" y="1685239"/>
            <a:ext cx="241402" cy="2414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95160" y="157276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en la nube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400800" y="2240280"/>
            <a:ext cx="4526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VPC dedicada con subredes públicas y privadas en 2 zonas de disponibilidad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Load Balancer como único punto de entrada HTTPS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Groups + NACLs restrictivos por capa; VPN opcional a on-premise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Infraestructura Viva  ·  Módulo 4  ·  Alkemy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monitoreo y notificaciones</a:t>
            </a:r>
            <a:endParaRPr lang="en-US" sz="2600" dirty="0"/>
          </a:p>
        </p:txBody>
      </p:sp>
      <p:pic>
        <p:nvPicPr>
          <p:cNvPr id="3" name="Image 0" descr="/home/claude/proyecto/diagrama_monitore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7315200" cy="34887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229600" y="109728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1F3864"/>
          </a:solidFill>
          <a:ln/>
        </p:spPr>
      </p:sp>
      <p:sp>
        <p:nvSpPr>
          <p:cNvPr id="5" name="Text 2"/>
          <p:cNvSpPr/>
          <p:nvPr/>
        </p:nvSpPr>
        <p:spPr>
          <a:xfrm>
            <a:off x="8412480" y="1207008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9464040" y="129844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 clave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464040" y="175564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· Red · Errores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229600" y="269748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1F3864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0" y="2807208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9464040" y="289864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alarmas con SNS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464040" y="335584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&gt; 70% · Errores &gt; 5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229600" y="429768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1F3864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0" y="4407408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14" name="Text 11"/>
          <p:cNvSpPr/>
          <p:nvPr/>
        </p:nvSpPr>
        <p:spPr>
          <a:xfrm>
            <a:off x="9464040" y="449884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acción automática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464040" y="495604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Escalado del ASG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Infraestructura Viva  ·  Módulo 4  ·  Alkemy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Prototipo funcional sobre AWS real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prototipo no simula: ejecuta llamadas reales de boto3 contra Floci, un emulador de AWS que levanta servicios de verdad en Docker (incluyendo un contenedor real de PostgreSQL para RDS).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27407A"/>
          </a:solidFill>
          <a:ln/>
        </p:spPr>
      </p:sp>
      <p:sp>
        <p:nvSpPr>
          <p:cNvPr id="5" name="Shape 3"/>
          <p:cNvSpPr/>
          <p:nvPr/>
        </p:nvSpPr>
        <p:spPr>
          <a:xfrm>
            <a:off x="1970532" y="2313432"/>
            <a:ext cx="585216" cy="585216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2688" y="2465588"/>
            <a:ext cx="280904" cy="280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97180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31520" y="3657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servicios AWS reales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399592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RDS · DynamoDB · S3 · SNS/SQS · CloudWatch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233672" y="205740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27407A"/>
          </a:solidFill>
          <a:ln/>
        </p:spPr>
      </p:sp>
      <p:sp>
        <p:nvSpPr>
          <p:cNvPr id="11" name="Shape 8"/>
          <p:cNvSpPr/>
          <p:nvPr/>
        </p:nvSpPr>
        <p:spPr>
          <a:xfrm>
            <a:off x="5655564" y="2313432"/>
            <a:ext cx="585216" cy="585216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7720" y="2465588"/>
            <a:ext cx="280904" cy="2809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233672" y="297180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4000" dirty="0"/>
          </a:p>
        </p:txBody>
      </p:sp>
      <p:sp>
        <p:nvSpPr>
          <p:cNvPr id="14" name="Text 10"/>
          <p:cNvSpPr/>
          <p:nvPr/>
        </p:nvSpPr>
        <p:spPr>
          <a:xfrm>
            <a:off x="4416552" y="3657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 documentados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462272" y="399592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Swagger UI interactivo (/docs)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7918704" y="205740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27407A"/>
          </a:solidFill>
          <a:ln/>
        </p:spPr>
      </p:sp>
      <p:sp>
        <p:nvSpPr>
          <p:cNvPr id="17" name="Shape 13"/>
          <p:cNvSpPr/>
          <p:nvPr/>
        </p:nvSpPr>
        <p:spPr>
          <a:xfrm>
            <a:off x="9340596" y="2313432"/>
            <a:ext cx="585216" cy="585216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2752" y="2465588"/>
            <a:ext cx="280904" cy="28090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918704" y="297180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4000" dirty="0"/>
          </a:p>
        </p:txBody>
      </p:sp>
      <p:sp>
        <p:nvSpPr>
          <p:cNvPr id="20" name="Text 15"/>
          <p:cNvSpPr/>
          <p:nvPr/>
        </p:nvSpPr>
        <p:spPr>
          <a:xfrm>
            <a:off x="8101584" y="3657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end-to-end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8147304" y="399592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Consultas SQL, NoSQL y mensajería validadas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548640" y="470916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FB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Transparencia técnica: Floci no ejecuta un evaluador de alarmas en segundo plano como AWS real; se documentó el hallazgo y se resolvió con una publicación explícita a SNS — el mismo criterio que aplicaría un arquitecto frente a los límites de una herramienta.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Infraestructura Viva  ·  Módulo 4  ·  Alkemy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Buenas prácticas de seguridad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02920" cy="50292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399" y="1456639"/>
            <a:ext cx="241402" cy="2414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2344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Menor privilegio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234440" y="1618488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IAM específicos por servicio, sin credenciales compartidas.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080760" y="1325880"/>
            <a:ext cx="502920" cy="50292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1519" y="1456639"/>
            <a:ext cx="241402" cy="2414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766560" y="12344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Segmentación de red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766560" y="1618488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Subredes separadas para aplicación y datos; tráfico mínimo entre capas.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3011119"/>
            <a:ext cx="241402" cy="24140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27889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Cifrado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234440" y="3172968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HTTPS/TLS en tránsito; datos en reposo cifrados en RDS, DynamoDB y S3.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080760" y="2880360"/>
            <a:ext cx="502920" cy="50292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1519" y="3011119"/>
            <a:ext cx="241402" cy="24140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766560" y="27889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disponibilidad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6766560" y="3172968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Despliegue en 2 zonas de disponibilidad para EC2, RDS y el ALB.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4434840"/>
            <a:ext cx="502920" cy="50292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399" y="4565599"/>
            <a:ext cx="241402" cy="24140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34440" y="4343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Backups y recuperación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1234440" y="4727448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Backups diarios en RDS, exportaciones de DynamoDB, versionado en S3.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080760" y="4434840"/>
            <a:ext cx="502920" cy="50292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1519" y="4565599"/>
            <a:ext cx="241402" cy="24140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766560" y="4343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Monitoreo continuo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6766560" y="4727448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Alarmas de CloudWatch conectadas a SNS, activas fuera de horario laboral.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Infraestructura Viva  ·  Módulo 4  ·  Alkemy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Viabilidad y costos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la arquitectura opera dentro del AWS Free Tier durante los primeros 12 meses, complementada con AWS Academy para los servicios que requieren mayor profundidad técnica.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94767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828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EC2 y RDS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023360" y="18288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750 horas/mes gratis durante 12 meses (t2/t3.micro, db.t3.micro)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457200" cy="45720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72491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606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023360" y="2606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 de invocaciones al mes, sin fecha de expiración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383280"/>
            <a:ext cx="457200" cy="45720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502152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3383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DynamoDB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023360" y="3383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GB de almacenamiento, sin fecha de expiración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4160520"/>
            <a:ext cx="457200" cy="45720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4279392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88720" y="4160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+ CloudFront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4023360" y="4160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GB de S3 y 1 TB de transferencia saliente, 12 meses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4937760"/>
            <a:ext cx="457200" cy="45720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5056632"/>
            <a:ext cx="219456" cy="21945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88720" y="4937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CloudWatch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4023360" y="4937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métricas personalizadas, sin fecha de expiración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Infraestructura Viva  ·  Módulo 4  ·  Alkemy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7276" y="685800"/>
            <a:ext cx="914400" cy="91440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5020" y="92354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182880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y documentación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0" y="233172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github.com/Martliz/infraestructura-viva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997196" y="2971800"/>
            <a:ext cx="2194560" cy="0"/>
          </a:xfrm>
          <a:prstGeom prst="line">
            <a:avLst/>
          </a:prstGeom>
          <a:noFill/>
          <a:ln w="12700">
            <a:solidFill>
              <a:srgbClr val="3E5D8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0" y="32004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 de arquitectura · Prototipo funcional · Plan de monitoreo · Guía de buenas prácticas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371600" y="3977640"/>
            <a:ext cx="9418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FB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“Integrar en un solo diseño los conceptos de cada manual, y aprender a distinguir un problema de diseño de una limitación de la herramienta usada para probarlo, fue el mayor desafío y el mayor aprendizaje de este proyecto.”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0" y="5394960"/>
            <a:ext cx="12188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0" y="608076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8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MartLiz  ·  Infraestructura Viva  ·  Módulo 4, Alkemy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Infraestructura Viva</dc:title>
  <dc:subject>PptxGenJS Presentation</dc:subject>
  <dc:creator>MartLiz</dc:creator>
  <cp:lastModifiedBy>MartLiz</cp:lastModifiedBy>
  <cp:revision>1</cp:revision>
  <dcterms:created xsi:type="dcterms:W3CDTF">2026-07-01T14:48:13Z</dcterms:created>
  <dcterms:modified xsi:type="dcterms:W3CDTF">2026-07-01T14:48:13Z</dcterms:modified>
</cp:coreProperties>
</file>