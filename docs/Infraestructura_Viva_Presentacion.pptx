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66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822960"/>
            <a:ext cx="1005840" cy="100584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074" y="1084478"/>
            <a:ext cx="482803" cy="4828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1488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ARQUITECTURA CLOUD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Migración de un entorno on-premise a AWS Cloud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97196" y="4343400"/>
            <a:ext cx="2194560" cy="0"/>
          </a:xfrm>
          <a:prstGeom prst="line">
            <a:avLst/>
          </a:prstGeom>
          <a:noFill/>
          <a:ln w="12700">
            <a:solidFill>
              <a:srgbClr val="3E5D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0" y="45720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Digitales ACME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 · Fundamentos de Tecnología Cloud  —  Bootcamp Cloud Architecture, Alkemy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0" y="63550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 ·  Junio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de ACME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Soluciones Digitales ACME opera hoy sobre un entorno on-premise que limita el crecimiento de ventas, soporte y finanzas.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498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1168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Costos elevados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costo de mantenimiento del hardware propio, sin escalar con la demanda.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44074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01168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834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rígido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074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capacidad de escalar procesamiento según la carga real de cada área.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69164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1"/>
          <p:cNvSpPr/>
          <p:nvPr/>
        </p:nvSpPr>
        <p:spPr>
          <a:xfrm>
            <a:off x="8065008" y="189280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201168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41080" y="1874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aislados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065008" y="246888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relacionales y NoSQL sin integrar, dependientes de hardware físico.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5"/>
          <p:cNvSpPr/>
          <p:nvPr/>
        </p:nvSpPr>
        <p:spPr>
          <a:xfrm>
            <a:off x="7498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único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498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diferenciar datos de uso frecuente y datos de archivo histórico.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19"/>
          <p:cNvSpPr/>
          <p:nvPr/>
        </p:nvSpPr>
        <p:spPr>
          <a:xfrm>
            <a:off x="44074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6280" y="3977640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834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expuesta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4074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segmentación clara entre servicios internos y aplicaciones públicas.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3657600"/>
            <a:ext cx="3429000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0" name="Shape 23"/>
          <p:cNvSpPr/>
          <p:nvPr/>
        </p:nvSpPr>
        <p:spPr>
          <a:xfrm>
            <a:off x="8065008" y="38587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80" y="3977640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641080" y="3840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reactivo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065008" y="4434840"/>
            <a:ext cx="3026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Incidentes detectados después de impactar a los usuarios, no antes.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de la propuesta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Migrar el entorno on-premise de ACME a AWS usando únicamente herramientas gratuitas — AWS Free Tier, AWS Academy, SQLiteOnline y Visual Studio Code — resolviendo seis problemáticas centrales.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7772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2671328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escalable y seguro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062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44348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96" y="2671328"/>
            <a:ext cx="280904" cy="2809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663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 relacional + NoSQL integradas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7863840" y="210312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Shape 9"/>
          <p:cNvSpPr/>
          <p:nvPr/>
        </p:nvSpPr>
        <p:spPr>
          <a:xfrm>
            <a:off x="8092440" y="251917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4596" y="2671328"/>
            <a:ext cx="280904" cy="2809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823960" y="210312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por frecuencia de uso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2"/>
          <p:cNvSpPr/>
          <p:nvPr/>
        </p:nvSpPr>
        <p:spPr>
          <a:xfrm>
            <a:off x="7772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96" y="4362968"/>
            <a:ext cx="280904" cy="2809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virtual segmentada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42062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Shape 15"/>
          <p:cNvSpPr/>
          <p:nvPr/>
        </p:nvSpPr>
        <p:spPr>
          <a:xfrm>
            <a:off x="44348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6996" y="4362968"/>
            <a:ext cx="280904" cy="28090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663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y notificaciones proactivas</a:t>
            </a:r>
            <a:endParaRPr lang="en-US" sz="1350" dirty="0"/>
          </a:p>
        </p:txBody>
      </p:sp>
      <p:sp>
        <p:nvSpPr>
          <p:cNvPr id="24" name="Shape 17"/>
          <p:cNvSpPr/>
          <p:nvPr/>
        </p:nvSpPr>
        <p:spPr>
          <a:xfrm>
            <a:off x="78638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Shape 18"/>
          <p:cNvSpPr/>
          <p:nvPr/>
        </p:nvSpPr>
        <p:spPr>
          <a:xfrm>
            <a:off x="8092440" y="421081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4596" y="4362968"/>
            <a:ext cx="280904" cy="28090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823960" y="37947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viable con AWS Free Tier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9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propuesta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con subredes públicas y privadas, capa de cómputo, capa de datos y una capa transversal de monitoreo y mensajería.</a:t>
            </a:r>
            <a:endParaRPr lang="en-US" sz="1300" dirty="0"/>
          </a:p>
        </p:txBody>
      </p:sp>
      <p:pic>
        <p:nvPicPr>
          <p:cNvPr id="4" name="Image 0" descr="/home/claude/proyecto/diagr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341" y="1371600"/>
            <a:ext cx="6732270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 y bases de datos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68523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Cómputo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+ Auto Scaling — instancias t2/t3.micro (Free Tier), 1–4 según demanda de ventas y soporte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 — procesos por lotes de finanzas, sin costo por inactividad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ECS (Fargate) — microservicio de integración en contenedores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8076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de datos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RDS (PostgreSQL) — Multi-AZ, backups automáticos, datos transaccionales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DynamoDB — datos semiestructurados de soporte, hasta 3 índices secundarios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Prototipado de consultas SQL en SQLiteOnline antes de RDS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 y 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68523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Almacenamiento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Estándar — sitio web, archivos multimedia, acceso frecuente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ciclo de vida — mueve a Glacier tras 90 días sin acceso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Backups — snapshots de RDS y exportaciones DynamoDB, versionado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80760" y="1280160"/>
            <a:ext cx="5166360" cy="4846320"/>
          </a:xfrm>
          <a:prstGeom prst="roundRect">
            <a:avLst>
              <a:gd name="adj" fmla="val 1509"/>
            </a:avLst>
          </a:prstGeom>
          <a:solidFill>
            <a:srgbClr val="EAF1F8"/>
          </a:solidFill>
          <a:ln/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5839" y="16852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157276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en la nube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0" y="2240280"/>
            <a:ext cx="4526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dedicada con subredes públicas y privadas en 2 zonas de disponibilidad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Load Balancer como único punto de entrada HTTPS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Groups + NACLs restrictivos por capa; VPN opcional a on-premise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monitoreo y notificaciones</a:t>
            </a:r>
            <a:endParaRPr lang="en-US" sz="2600" dirty="0"/>
          </a:p>
        </p:txBody>
      </p:sp>
      <p:pic>
        <p:nvPicPr>
          <p:cNvPr id="3" name="Image 0" descr="/home/claude/proyecto/diagrama_monitor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7315200" cy="34887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229600" y="10972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/>
          <p:nvPr/>
        </p:nvSpPr>
        <p:spPr>
          <a:xfrm>
            <a:off x="8412480" y="12070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464040" y="12984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clave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464040" y="17556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· Red · Errores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0" y="26974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8412480" y="28072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464040" y="28986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alarmas con SNS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464040" y="3355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&gt; 70% · Errores &gt; 5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0" y="429768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/>
          <p:nvPr/>
        </p:nvSpPr>
        <p:spPr>
          <a:xfrm>
            <a:off x="8412480" y="4407408"/>
            <a:ext cx="1005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9464040" y="449884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 automática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464040" y="49560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del ASG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funcional sobre AWS real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prototipo no simula: ejecuta llamadas reales de boto3 contra Floci, un emulador de AWS que levanta servicios de verdad en Docker (incluyendo un contenedor real de PostgreSQL para RDS).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970532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688" y="2465588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AWS reales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 · DynamoDB · S3 · SNS/SQS · CloudWatch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33672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655564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7720" y="2465588"/>
            <a:ext cx="280904" cy="2809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33672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4416552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 documentados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462272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interactivo (/docs)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18704" y="205740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27407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9340596" y="2313432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2752" y="2465588"/>
            <a:ext cx="280904" cy="2809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18704" y="29718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000" dirty="0"/>
          </a:p>
        </p:txBody>
      </p:sp>
      <p:sp>
        <p:nvSpPr>
          <p:cNvPr id="20" name="Text 15"/>
          <p:cNvSpPr/>
          <p:nvPr/>
        </p:nvSpPr>
        <p:spPr>
          <a:xfrm>
            <a:off x="8101584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end-to-end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8147304" y="399592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SQL, NoSQL y mensajería validadas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47091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Transparencia técnica: Floci no ejecuta un evaluador de alarmas en segundo plano como AWS real; se documentó el hallazgo y se resolvió con una publicación explícita a SNS — el mismo criterio que aplicaría un arquitecto frente a los límites de una herramienta.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Buenas prácticas de seguridad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1456639"/>
            <a:ext cx="241402" cy="241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privilegio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234440" y="16184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IAM específicos por servicio, sin credenciales compartidas.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80760" y="132588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519" y="1456639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6656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de red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766560" y="16184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Subredes separadas para aplicación y datos; tráfico mínimo entre capas.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301111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Cifrado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34440" y="3172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HTTPS/TLS en tránsito; datos en reposo cifrados en RDS, DynamoDB y S3.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080760" y="288036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1519" y="3011119"/>
            <a:ext cx="241402" cy="24140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766560" y="2788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disponibilidad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6766560" y="31729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en 2 zonas de disponibilidad para EC2, RDS y el ALB.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" y="456559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3444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Backups y recuperación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234440" y="472744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Backups diarios en RDS, exportaciones de DynamoDB, versionado en S3.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080760" y="4434840"/>
            <a:ext cx="502920" cy="50292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1519" y="4565599"/>
            <a:ext cx="241402" cy="24140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766560" y="4343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 continuo</a:t>
            </a:r>
            <a:endParaRPr lang="en-US" sz="1400" dirty="0"/>
          </a:p>
        </p:txBody>
      </p:sp>
      <p:sp>
        <p:nvSpPr>
          <p:cNvPr id="26" name="Text 18"/>
          <p:cNvSpPr/>
          <p:nvPr/>
        </p:nvSpPr>
        <p:spPr>
          <a:xfrm>
            <a:off x="6766560" y="472744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Alarmas de CloudWatch conectadas a SNS, activas fuera de horario laboral.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8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 y costos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la arquitectura opera dentro del AWS Free Tier durante los primeros 12 meses, complementada con AWS Academy para los servicios que requieren mayor profundidad técnica.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9476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828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y RDS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02336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horas/mes gratis durante 12 meses (t2/t3.micro, db.t3.micro)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72491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02336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de invocaciones al mes, sin fecha de expiración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021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023360" y="3383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GB de almacenamiento, sin fecha de expiración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27939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4160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+ CloudFront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02336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GB de S3 y 1 TB de transferencia saliente, 12 meses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4937760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056632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4937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CloudWatch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4023360" y="4937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métricas personalizadas, sin fecha de expiración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 Viva  ·  Módulo 4  · </a:t>
            </a:r>
            <a:r>
              <a:rPr lang="en-US" sz="10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01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6B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685800"/>
            <a:ext cx="914400" cy="9144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9235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18288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y documentación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233172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https://github.com/Martliz/infraestructura-viva.git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97196" y="2971800"/>
            <a:ext cx="2194560" cy="0"/>
          </a:xfrm>
          <a:prstGeom prst="line">
            <a:avLst/>
          </a:prstGeom>
          <a:noFill/>
          <a:ln w="12700">
            <a:solidFill>
              <a:srgbClr val="3E5D8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0" y="3200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arquitectura · Prototipo funcional · Plan de monitoreo · Guía de buenas prácticas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3977640"/>
            <a:ext cx="9418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“Integrar en un solo diseño los conceptos de cada manual, y aprender a distinguir un problema de diseño de una limitación de la herramienta usada para probarlo, fue el mayor desafío y el mayor aprendizaje de este proyecto.”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0" y="539496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0" y="60807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 err="1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</a:t>
            </a:r>
            <a:r>
              <a:rPr lang="en-US" sz="1100" dirty="0">
                <a:solidFill>
                  <a:srgbClr val="6E86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Viva  ·  Módulo 4, GRUPO 01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916</Words>
  <Application>Microsoft Office PowerPoint</Application>
  <PresentationFormat>Panorámica</PresentationFormat>
  <Paragraphs>130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Infraestructura Viva</dc:title>
  <dc:subject>PptxGenJS Presentation</dc:subject>
  <dc:creator>MartLiz</dc:creator>
  <cp:lastModifiedBy>Martha Lizardo Álvarez</cp:lastModifiedBy>
  <cp:revision>4</cp:revision>
  <dcterms:created xsi:type="dcterms:W3CDTF">2026-07-01T14:48:13Z</dcterms:created>
  <dcterms:modified xsi:type="dcterms:W3CDTF">2026-07-01T15:17:42Z</dcterms:modified>
</cp:coreProperties>
</file>